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39712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95744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51776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07808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0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19872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75904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31936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87968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00032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56064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12096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68128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24160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80192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36224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92256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48288" y="54864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0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39712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95744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51776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07808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63840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19872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75904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31936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87968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00032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56064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12096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68128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24160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80192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36224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192256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448288" y="80467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83680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839712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95744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51776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607808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63840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19872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75904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31936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887968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144000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400032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656064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912096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68128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424160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680192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936224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192256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448288" y="106070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83680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839712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95744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351776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607808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863840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19872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375904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631936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887968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44000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00032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656064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912096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168128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424160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680192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936224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192256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448288" y="1316736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83680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839712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095744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351776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607808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863840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119872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375904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31936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887968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144000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400032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656064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912096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68128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424160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680192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936224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192256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1448288" y="1572768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583680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839712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095744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351776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607808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863840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119872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375904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631936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887968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144000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400032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656064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912096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168128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424160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680192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936224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192256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448288" y="1828800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583680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839712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095744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351776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607808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863840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119872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375904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631936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887968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144000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400032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56064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912096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68128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424160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680192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936224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192256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448288" y="2084832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583680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839712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095744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7351776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7607808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863840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8119872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375904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631936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887968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144000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400032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656064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912096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168128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424160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680192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936224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1192256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448288" y="2340864"/>
            <a:ext cx="36576" cy="36576"/>
          </a:xfrm>
          <a:prstGeom prst="ellipse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6EE7F9"/>
                </a:solidFill>
                <a:latin typeface="Consolas"/>
              </a:rPr>
              <a:t>NLP  /  VECTOR SEARCH  /  RAG  /  EVALUATION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40080" y="15544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2E8F0"/>
                </a:solidFill>
                <a:latin typeface="Calibri"/>
              </a:rPr>
              <a:t>Intelligent Support Ticket</a:t>
            </a:r>
          </a:p>
          <a:p>
            <a:pPr algn="l"/>
            <a:r>
              <a:rPr sz="5400" b="1" i="0">
                <a:solidFill>
                  <a:srgbClr val="E2E8F0"/>
                </a:solidFill>
                <a:latin typeface="Calibri"/>
              </a:rPr>
              <a:t>Classification with RAG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58368" y="3977639"/>
            <a:ext cx="548640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" y="4114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Calibri"/>
              </a:rPr>
              <a:t>Hybrid retrieval, weak-label classification, traditional baseline,</a:t>
            </a:r>
          </a:p>
          <a:p>
            <a:pPr algn="l"/>
            <a:r>
              <a:rPr sz="1800" b="0" i="1">
                <a:solidFill>
                  <a:srgbClr val="94A3B8"/>
                </a:solidFill>
                <a:latin typeface="Calibri"/>
              </a:rPr>
              <a:t>and response generation evaluation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40080" y="5394960"/>
            <a:ext cx="466344" cy="365760"/>
          </a:xfrm>
          <a:prstGeom prst="roundRect">
            <a:avLst>
              <a:gd name="adj" fmla="val 50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080" y="5394960"/>
            <a:ext cx="466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200">
                <a:solidFill>
                  <a:srgbClr val="6EE7F9"/>
                </a:solidFill>
                <a:latin typeface="Consolas"/>
              </a:rPr>
              <a:t>NLP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243584" y="5394960"/>
            <a:ext cx="1472184" cy="365760"/>
          </a:xfrm>
          <a:prstGeom prst="roundRect">
            <a:avLst>
              <a:gd name="adj" fmla="val 50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243584" y="5394960"/>
            <a:ext cx="14721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200">
                <a:solidFill>
                  <a:srgbClr val="6EE7F9"/>
                </a:solidFill>
                <a:latin typeface="Consolas"/>
              </a:rPr>
              <a:t>Vector Search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852928" y="5394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852928" y="5394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200">
                <a:solidFill>
                  <a:srgbClr val="6EE7F9"/>
                </a:solidFill>
                <a:latin typeface="Consolas"/>
              </a:rPr>
              <a:t>Transformers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361688" y="539496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361688" y="5394960"/>
            <a:ext cx="11704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200">
                <a:solidFill>
                  <a:srgbClr val="6EE7F9"/>
                </a:solidFill>
                <a:latin typeface="Consolas"/>
              </a:rPr>
              <a:t>Evaluation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300">
                <a:solidFill>
                  <a:srgbClr val="64748B"/>
                </a:solidFill>
                <a:latin typeface="Consolas"/>
              </a:rPr>
              <a:t>PREPARED FOR PROJECT PRESENTATION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58400" y="6355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02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02  / 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Presentation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From problem definition to evaluation and recommended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45720" cy="155448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6EE7F9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Problem &amp;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Why support ticket automation matters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0116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2240280"/>
            <a:ext cx="45720" cy="15544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240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Dataset &amp; 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3375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Data quality, categories, and preprocessing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20116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4" y="2240280"/>
            <a:ext cx="45720" cy="1554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22402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Modeling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3375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TF-IDF baseline, BM25, FAISS, and RAG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519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45720" cy="1554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66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Evaluation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Classification, retrieval, and response 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79392" y="42519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9392" y="4480560"/>
            <a:ext cx="45720" cy="1554480"/>
          </a:xfrm>
          <a:prstGeom prst="rect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97373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5166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55778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Final architecture and next steps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4" y="425196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01584" y="4480560"/>
            <a:ext cx="45720" cy="155448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6EE7F9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5166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55778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Production stack and live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03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03  / 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Build an intelligent NLP system for support ticket classification and response assistance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657600" cy="4572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E7F9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Business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Reduce manual effort in support operations by automatically categorizing incoming tickets and proposing relevant response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36576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80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ML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6616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Compare a traditional supervised classifier against a retrieval-based RAG workflow, then evaluate classification, retrieval, and response quality.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42062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9525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36576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80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Deliverables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56616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Cleaned corpus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EDA analysis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Baseline model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Hybrid retriever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RAG classifier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Evaluation report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Final PPT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04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04  / 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Customer support teams face repetitive and high-volume text handling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6675120" cy="640080"/>
          </a:xfrm>
          <a:prstGeom prst="roundRect">
            <a:avLst>
              <a:gd name="adj" fmla="val 2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286000"/>
            <a:ext cx="274320" cy="27432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EE7F9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031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High ticket volume increases response and routing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0360"/>
            <a:ext cx="6675120" cy="640080"/>
          </a:xfrm>
          <a:prstGeom prst="roundRect">
            <a:avLst>
              <a:gd name="adj" fmla="val 2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063240"/>
            <a:ext cx="274320" cy="27432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63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EE7F9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8036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Manual categorization can be inconsistent across agents.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6675120" cy="640080"/>
          </a:xfrm>
          <a:prstGeom prst="roundRect">
            <a:avLst>
              <a:gd name="adj" fmla="val 2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840480"/>
            <a:ext cx="274320" cy="27432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40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EE7F9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65760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Many tickets repeat similar issues and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34840"/>
            <a:ext cx="6675120" cy="640080"/>
          </a:xfrm>
          <a:prstGeom prst="roundRect">
            <a:avLst>
              <a:gd name="adj" fmla="val 2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4617720"/>
            <a:ext cx="274320" cy="27432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6EE7F9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Support teams need faster access to similar historical cases.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2103120"/>
            <a:ext cx="4206240" cy="2377440"/>
          </a:xfrm>
          <a:prstGeom prst="roundRect">
            <a:avLst>
              <a:gd name="adj" fmla="val 5000"/>
            </a:avLst>
          </a:prstGeom>
          <a:solidFill>
            <a:srgbClr val="1B2340"/>
          </a:solidFill>
          <a:ln w="12700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2377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TARGET 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274320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A system that classifies each ticket, retrieves similar historical examples, and generates a support-oriented draft response for agent review.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663440"/>
            <a:ext cx="914400" cy="128016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90687" y="4892040"/>
            <a:ext cx="329184" cy="329184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5349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9" y="512064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39" y="4663440"/>
            <a:ext cx="914400" cy="128016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42247" y="4892040"/>
            <a:ext cx="329184" cy="32918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39" y="5349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Classify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39" y="512064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199" y="4663440"/>
            <a:ext cx="914400" cy="128016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893807" y="4892040"/>
            <a:ext cx="329184" cy="3291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199" y="5349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Retrieve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599" y="5120640"/>
            <a:ext cx="137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52759" y="4663440"/>
            <a:ext cx="914400" cy="128016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45367" y="4892040"/>
            <a:ext cx="329184" cy="3291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52759" y="53492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Respond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05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05  / 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Proposed Solution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 hybrid system combining supervised classification with retrieval-augmented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6EE7F9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154680"/>
            <a:ext cx="548640" cy="127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2E8F0"/>
                </a:solidFill>
                <a:latin typeface="Calibri"/>
              </a:rPr>
              <a:t>Customer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Raw customer issue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514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3154680"/>
            <a:ext cx="548640" cy="127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2E8F0"/>
                </a:solidFill>
                <a:latin typeface="Calibri"/>
              </a:rPr>
              <a:t>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7947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Clean and normalize 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514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3154680"/>
            <a:ext cx="548640" cy="12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2E8F0"/>
                </a:solidFill>
                <a:latin typeface="Calibri"/>
              </a:rPr>
              <a:t>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7947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Predict ticket 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514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154680"/>
            <a:ext cx="548640" cy="127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2E8F0"/>
                </a:solidFill>
                <a:latin typeface="Calibri"/>
              </a:rPr>
              <a:t>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7947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Find similar old tickets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25146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97373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3154680"/>
            <a:ext cx="548640" cy="12700"/>
          </a:xfrm>
          <a:prstGeom prst="rect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3337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2E8F0"/>
                </a:solidFill>
                <a:latin typeface="Calibri"/>
              </a:rPr>
              <a:t>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79476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Draft support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937760"/>
            <a:ext cx="11247120" cy="132588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CORE IDEA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44068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Use TF-IDF + Logistic Regression for reliable ticket classification, and use BM25 + FAISS + Qwen for similar-case retrieval and context-aware response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06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06  / 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Large-scale customer support tweet dataset with paired customer messages and support responses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6EE7F9"/>
                </a:solidFill>
                <a:latin typeface="Calibri"/>
              </a:rPr>
              <a:t>945,278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Original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loaded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1031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A78BF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54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520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input /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34D399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Missing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20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input / 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1031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3774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BBF24"/>
                </a:solidFill>
                <a:latin typeface="Calibri"/>
              </a:rPr>
              <a:t>1,838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1546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520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Calibri"/>
              </a:rPr>
              <a:t>exact duplicate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97680"/>
            <a:ext cx="5532120" cy="192024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FIELD MEANING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37760"/>
            <a:ext cx="4892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onsolas"/>
              </a:rPr>
              <a:t>input  =  customer ticket / issue message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Consolas"/>
              </a:rPr>
              <a:t>output =  historical support agent 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297680"/>
            <a:ext cx="5532120" cy="192024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52628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onsolas"/>
              </a:rPr>
              <a:t>DATASET NOTE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937760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The dataset did not provide official category labels, so categories were created using reproducible weak-labeling rules.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8064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onsolas"/>
              </a:rPr>
              <a:t>Source: MohammadOthman/mo-customer-support-tweets-945k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07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07  / 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EDA was used before and after cleaning to understand quality, scale, and text characteristics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5720" cy="41148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Raw data 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457200" cy="127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Shape and columns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Missing values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Duplicate records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Text length distributions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• Frequent terms and noise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45720" cy="4114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Text length insight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17520"/>
            <a:ext cx="457200" cy="127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2004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Average input length: ~97 characters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Average output length: ~100 characters</a:t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Tickets are short, conversational, and tweet-like.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45720" cy="4114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Why it matters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017520"/>
            <a:ext cx="457200" cy="12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EDA justified cleaning choices and helped identify that weak labeling was needed for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08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08  /  PREPROCESS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Data Cleaning &amp;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Transform noisy support text into a consistent model-ready representation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EE7F9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Lowercase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88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Normalize case differences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2468880"/>
            <a:ext cx="502920" cy="502920"/>
          </a:xfrm>
          <a:prstGeom prst="ellipse">
            <a:avLst/>
          </a:prstGeom>
          <a:solidFill>
            <a:srgbClr val="1B2340"/>
          </a:solidFill>
          <a:ln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Remove URLs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788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Drop links and tracking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2468880"/>
            <a:ext cx="502920" cy="502920"/>
          </a:xfrm>
          <a:prstGeom prst="ellipse">
            <a:avLst/>
          </a:prstGeom>
          <a:solidFill>
            <a:srgbClr val="1B2340"/>
          </a:solidFill>
          <a:ln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468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774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HTML 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7889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Remove tags and entities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661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1B2340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Symbol cleanup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251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Reduce noisy punctuation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5661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72000" y="3931920"/>
            <a:ext cx="502920" cy="502920"/>
          </a:xfrm>
          <a:prstGeom prst="ellipse">
            <a:avLst/>
          </a:prstGeom>
          <a:solidFill>
            <a:srgbClr val="1B2340"/>
          </a:solidFill>
          <a:ln>
            <a:solidFill>
              <a:srgbClr val="F9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97373"/>
                </a:solidFill>
                <a:latin typeface="Consola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Normalize spaces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251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Ensure clean tokenization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56616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0" y="3931920"/>
            <a:ext cx="502920" cy="50292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6EE7F9"/>
                </a:solidFill>
                <a:latin typeface="Consola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Calibri"/>
              </a:rPr>
              <a:t>Duplicate handling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251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Remove repeated rows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1B2340"/>
          </a:solidFill>
          <a:ln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967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BBF24"/>
                </a:solidFill>
                <a:latin typeface="Consolas"/>
              </a:rPr>
              <a:t>OPTIONAL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MinHash LSH near-duplicate removal can be disabled in large Kaggle runs to reduce CPU time while keeping exact duplicate removal.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09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09  / 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Weak Labeling: Ticket Category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Categories were created from reproducible keyword rules because official labels were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64748B"/>
                </a:solidFill>
                <a:latin typeface="Consolas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64748B"/>
                </a:solidFill>
                <a:latin typeface="Consolas"/>
              </a:rPr>
              <a:t>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64748B"/>
                </a:solidFill>
                <a:latin typeface="Consolas"/>
              </a:rPr>
              <a:t>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03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64748B"/>
                </a:solidFill>
                <a:latin typeface="Consolas"/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11247120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11247120" cy="384048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2752344"/>
            <a:ext cx="91440" cy="91440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general_support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0604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456,611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752344"/>
            <a:ext cx="1645920" cy="91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2752344"/>
            <a:ext cx="828633" cy="9144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60604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onsolas"/>
              </a:rPr>
              <a:t>50.3%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60604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General requests and unclear cases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11247120" cy="38404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313639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99008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technical_app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9900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170,888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136392"/>
            <a:ext cx="1645920" cy="91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77840" y="3136392"/>
            <a:ext cx="310118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299008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onsolas"/>
              </a:rPr>
              <a:t>18.8%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99008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App, technical, bug, access issues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74136"/>
            <a:ext cx="11247120" cy="384048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0" y="352044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374136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order_shipping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37413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94,313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520440"/>
            <a:ext cx="1645920" cy="91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77840" y="3520440"/>
            <a:ext cx="171154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337413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onsolas"/>
              </a:rPr>
              <a:t>10.4%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37413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Order, delivery, tracking, shipping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758184"/>
            <a:ext cx="11247120" cy="38404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8640" y="390448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375818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product_service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3758184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71,027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904488"/>
            <a:ext cx="1645920" cy="91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77840" y="3904488"/>
            <a:ext cx="128896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375818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onsolas"/>
              </a:rPr>
              <a:t>7.8%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75818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Product/service questions or complaints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42232"/>
            <a:ext cx="11247120" cy="384048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48640" y="4288536"/>
            <a:ext cx="91440" cy="91440"/>
          </a:xfrm>
          <a:prstGeom prst="ellipse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14223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billing_payment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4142232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63,601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4288536"/>
            <a:ext cx="1645920" cy="91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77840" y="4288536"/>
            <a:ext cx="115419" cy="91440"/>
          </a:xfrm>
          <a:prstGeom prst="rect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9480" y="4142232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onsolas"/>
              </a:rPr>
              <a:t>7.0%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14223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Payment, card, charge, billing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26280"/>
            <a:ext cx="11247120" cy="38404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8640" y="4672584"/>
            <a:ext cx="91440" cy="91440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52628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refund_return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452628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32,450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4672584"/>
            <a:ext cx="1645920" cy="91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77840" y="4672584"/>
            <a:ext cx="58888" cy="9144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452628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onsolas"/>
              </a:rPr>
              <a:t>3.6%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0" y="45262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Refund, return, cancellation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910328"/>
            <a:ext cx="11247120" cy="384048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48640" y="505663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910328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account_login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491032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18,079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77840" y="5056632"/>
            <a:ext cx="1645920" cy="9144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77840" y="5056632"/>
            <a:ext cx="32808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69480" y="491032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onsolas"/>
              </a:rPr>
              <a:t>2.0%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49103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Login, password, account access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Interpretation: classification results evaluate how well models learn these constructed labels, not original human-labeled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10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10  / 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Train / Test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All fitting, indexing, embedding generation, and retrieval were built on train data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657600" cy="4572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6EE7F9"/>
                </a:solidFill>
                <a:latin typeface="Calibri"/>
              </a:rPr>
              <a:t>725,575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  <a:latin typeface="Calibri"/>
              </a:rPr>
              <a:t>Train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80% of cleaned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365760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5146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A78BFA"/>
                </a:solidFill>
                <a:latin typeface="Calibri"/>
              </a:rPr>
              <a:t>181,394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  <a:latin typeface="Calibri"/>
              </a:rPr>
              <a:t>Test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7307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20% unseen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365760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5146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34D399"/>
                </a:solidFill>
                <a:latin typeface="Calibri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  <a:latin typeface="Calibri"/>
              </a:rPr>
              <a:t>Stratified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7307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same distribution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348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99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WHY STRATIFICATION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92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Using stratify=df['category'] keeps the same category proportions in train and test, making evaluation fair for all support categories.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468112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6327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4D399"/>
                </a:solidFill>
                <a:latin typeface="Consolas"/>
              </a:rPr>
              <a:t>NO DATA 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25312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The test set is not used when fitting TF-IDF, BM25, FAISS, embeddings, or retrieval indexes.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11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11  / 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Traditional Classification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TF-IDF + Logistic Regression provides a fast supervised baseline for category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63040" y="2468880"/>
            <a:ext cx="457200" cy="457200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Clean ticket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6EE7F9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19456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97680" y="246888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0632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TF-IDF Vectorizer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6974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9456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246888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0632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Logistic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6974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0">
                <a:solidFill>
                  <a:srgbClr val="34D399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19456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960" y="246888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0632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Predicted category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5532120" cy="192024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9525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TF-IDF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4800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max_features = 80,000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ngram_range = (1, 2)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min_df = 2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sublinear_tf = True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206240"/>
            <a:ext cx="5532120" cy="192024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434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onsolas"/>
              </a:rPr>
              <a:t>CLASSIFIER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46320"/>
            <a:ext cx="4800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LogisticRegression(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    max_iter = 1000,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    class_weight = 'balanced',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    n_jobs = -1</a:t>
            </a:r>
          </a:p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12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12  / 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RAG Retrieval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Hybrid retrieval combines exact keyword search and semantic vector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657600" cy="5486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6EE7F9"/>
                </a:solidFill>
                <a:latin typeface="Calibri"/>
              </a:rPr>
              <a:t>BM25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63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onsolas"/>
              </a:rPr>
              <a:t>Keyword-based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Best for exact words, product names, error codes, and repeated terms.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3657600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23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  <a:latin typeface="Calibri"/>
              </a:rPr>
              <a:t>FAISS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63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onsolas"/>
              </a:rPr>
              <a:t>Vector-based semantic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2044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Best for similar meaning even when users use different wording.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365760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4D399"/>
                </a:solidFill>
                <a:latin typeface="Calibri"/>
              </a:rPr>
              <a:t>Hybrid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063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onsolas"/>
              </a:rPr>
              <a:t>Combined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52044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FAISS_WEIGHT × semantic score</a:t>
            </a:r>
          </a:p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+ BM25_WEIGHT × keyword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1B2340"/>
          </a:solidFill>
          <a:ln w="9525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DOWNSTREAM 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The top retrieved tickets become context for RAG classification and response generation.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13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13  / 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RAG-Based Classification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Classifies by retrieving similar tickets and voting by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6EE7F9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3291840"/>
            <a:ext cx="548640" cy="127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Query ticket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034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0340" y="2560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3300" y="3291840"/>
            <a:ext cx="548640" cy="127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3220" y="34747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Hybrid retrieve Top-K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560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3291840"/>
            <a:ext cx="548640" cy="12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4747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Collect retrieved 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662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6620" y="2560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9580" y="3291840"/>
            <a:ext cx="548640" cy="127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9500" y="34747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Weight by score + rank bonus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219456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5603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F97373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3291840"/>
            <a:ext cx="548640" cy="12700"/>
          </a:xfrm>
          <a:prstGeom prst="rect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34747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Highest category score wins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SCORING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EE7F9"/>
                </a:solidFill>
                <a:latin typeface="Consolas"/>
              </a:rPr>
              <a:t>category_score += retrieval_score + (1 / rank)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Rewards both similarity and appearing near the top of the retrieved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14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14  /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Classification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Traditional supervised classification outperformed retrieval-based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532120" cy="3840480"/>
          </a:xfrm>
          <a:prstGeom prst="roundRect">
            <a:avLst>
              <a:gd name="adj" fmla="val 4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MODEL COMPARISON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880360"/>
            <a:ext cx="164592" cy="164592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TF-IDF + Logistic Regression</a:t>
            </a:r>
          </a:p>
        </p:txBody>
      </p:sp>
      <p:sp>
        <p:nvSpPr>
          <p:cNvPr id="14" name="Oval 13"/>
          <p:cNvSpPr/>
          <p:nvPr/>
        </p:nvSpPr>
        <p:spPr>
          <a:xfrm>
            <a:off x="3566160" y="2880360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816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Hybrid RAG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918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3410712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410712"/>
            <a:ext cx="2673797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3584448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0" y="3584448"/>
            <a:ext cx="1931212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33375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6EE7F9"/>
                </a:solidFill>
                <a:latin typeface="Consolas"/>
              </a:rPr>
              <a:t>0.975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5661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Consolas"/>
              </a:rPr>
              <a:t>0.704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Precision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959352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3959352"/>
            <a:ext cx="2674620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4133088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4133088"/>
            <a:ext cx="1926823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862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6EE7F9"/>
                </a:solidFill>
                <a:latin typeface="Consolas"/>
              </a:rPr>
              <a:t>0.975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1148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Consolas"/>
              </a:rPr>
              <a:t>0.702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3891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Recall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4507992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0" y="4507992"/>
            <a:ext cx="2673797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0" y="4681728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0" y="4681728"/>
            <a:ext cx="1931212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44348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6EE7F9"/>
                </a:solidFill>
                <a:latin typeface="Consolas"/>
              </a:rPr>
              <a:t>0.975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6634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Consolas"/>
              </a:rPr>
              <a:t>0.704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377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F1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056632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0" y="5056632"/>
            <a:ext cx="2673522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0" y="5230368"/>
            <a:ext cx="27432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0" y="5230368"/>
            <a:ext cx="1917222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66360" y="49834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6EE7F9"/>
                </a:solidFill>
                <a:latin typeface="Consolas"/>
              </a:rPr>
              <a:t>0.975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5212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A78BFA"/>
                </a:solidFill>
                <a:latin typeface="Consolas"/>
              </a:rPr>
              <a:t>0.699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10312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33172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TF-IDF + LOGISTIC REGRESSION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2697480"/>
            <a:ext cx="5532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2E8F0"/>
                </a:solidFill>
                <a:latin typeface="Calibri"/>
              </a:rPr>
              <a:t>0.9747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347472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Weighted F1: 0.9746  •  Best classifier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4114800"/>
            <a:ext cx="5532120" cy="182880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34340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onsolas"/>
              </a:rPr>
              <a:t>HYBRID RAG CLASSIFIER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709160"/>
            <a:ext cx="5532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2E8F0"/>
                </a:solidFill>
                <a:latin typeface="Calibri"/>
              </a:rPr>
              <a:t>0.7040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54864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Weighted F1: 0.6989  •  Retrieval-based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15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15  / 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Why TF-IDF Outperformed RAG for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The labels are strongly keyword-driven and the baseline is directly supervised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6EE7F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Category keywords are explicit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709160"/>
            <a:ext cx="457200" cy="127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Words like login, password, refund, shipping, payment, and order strongly indicate category.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5661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Supervised learning fits 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709160"/>
            <a:ext cx="457200" cy="127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89204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Logistic Regression directly learns input → category from labeled examples.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4688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6616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RAG depends on retrieval purity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709160"/>
            <a:ext cx="457200" cy="12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9204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If the Top-K retrieved tickets contain mixed categories, voting becomes noisy.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16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16  /  RETRIEVAL 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Retrieval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The retriever is useful, but not clean enough to replace supervised classification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37360" y="2468880"/>
            <a:ext cx="1097280" cy="109728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6EE7F9"/>
                </a:solidFill>
                <a:latin typeface="Calibri"/>
              </a:rPr>
              <a:t>0.636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  <a:latin typeface="Calibri"/>
              </a:rPr>
              <a:t>Precision@5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Top-5 category purity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2468880"/>
            <a:ext cx="1097280" cy="1097280"/>
          </a:xfrm>
          <a:prstGeom prst="ellipse">
            <a:avLst/>
          </a:prstGeom>
          <a:solidFill>
            <a:srgbClr val="1B2340"/>
          </a:solidFill>
          <a:ln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688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Calibri"/>
              </a:rPr>
              <a:t>0.906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94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  <a:latin typeface="Calibri"/>
              </a:rPr>
              <a:t>Hit@5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297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At least one correct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2468880"/>
            <a:ext cx="1097280" cy="1097280"/>
          </a:xfrm>
          <a:prstGeom prst="ellipse">
            <a:avLst/>
          </a:prstGeom>
          <a:solidFill>
            <a:srgbClr val="1B2340"/>
          </a:solidFill>
          <a:ln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4688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0.744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94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  <a:latin typeface="Calibri"/>
              </a:rPr>
              <a:t>MRR@5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297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First correct result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1B2340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BBF24"/>
                </a:solidFill>
                <a:latin typeface="Consolas"/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The system usually finds at least one correct-category ticket, but the retrieved list still includes irrelevant tickets.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17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17  / 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Response Generation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Automatic generation metrics compare generated responses against historical reference replies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3291840"/>
          </a:xfrm>
          <a:prstGeom prst="roundRect">
            <a:avLst>
              <a:gd name="adj" fmla="val 4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468880"/>
            <a:ext cx="164592" cy="164592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95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TF-IDF Nearest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2468880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395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Hybrid RAG + Qwen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ROUGE-1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00837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008376"/>
            <a:ext cx="911428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9125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3191256"/>
            <a:ext cx="857935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88036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6EE7F9"/>
                </a:solidFill>
                <a:latin typeface="Consolas"/>
              </a:rPr>
              <a:t>0.1329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288036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A78BFA"/>
                </a:solidFill>
                <a:latin typeface="Consolas"/>
              </a:rPr>
              <a:t>0.1251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74720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ROUGE-2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60273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3602736"/>
            <a:ext cx="104241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0" y="378561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0" y="3785616"/>
            <a:ext cx="139903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47472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6EE7F9"/>
                </a:solidFill>
                <a:latin typeface="Consolas"/>
              </a:rPr>
              <a:t>0.0152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47472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A78BFA"/>
                </a:solidFill>
                <a:latin typeface="Consolas"/>
              </a:rPr>
              <a:t>0.0204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069080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ROUGE-L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19709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0" y="4197096"/>
            <a:ext cx="682371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0" y="437997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0" y="4379976"/>
            <a:ext cx="626821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406908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6EE7F9"/>
                </a:solidFill>
                <a:latin typeface="Consolas"/>
              </a:rPr>
              <a:t>0.0995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406908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A78BFA"/>
                </a:solidFill>
                <a:latin typeface="Consolas"/>
              </a:rPr>
              <a:t>0.0914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63440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BLEU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479145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4791456"/>
            <a:ext cx="6776389" cy="146304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0" y="4974336"/>
            <a:ext cx="6858000" cy="146304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0" y="4974336"/>
            <a:ext cx="3911803" cy="1463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66344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6EE7F9"/>
                </a:solidFill>
                <a:latin typeface="Consolas"/>
              </a:rPr>
              <a:t>0.9881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46634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A78BFA"/>
                </a:solidFill>
                <a:latin typeface="Consolas"/>
              </a:rPr>
              <a:t>0.5704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696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BBF24"/>
                </a:solidFill>
                <a:latin typeface="Consolas"/>
              </a:rPr>
              <a:t>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ROUGE / BLEU can understate response quality because valid support answers may use different wording from the dataset reference.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18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18  / 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Evaluation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The project shows that the best architecture should combine both approaches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5720" cy="41148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E7F9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Calibri"/>
              </a:rPr>
              <a:t>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457200" cy="127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TF-IDF + Logistic Regression is the strongest category predictor and should be used for the primary routing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103120"/>
            <a:ext cx="45720" cy="4114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718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Calibri"/>
              </a:rPr>
              <a:t>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657600"/>
            <a:ext cx="457200" cy="127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84048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Hybrid BM25 + FAISS has strong Hit@5, making it valuable for surfacing relevant historical examples.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103120"/>
            <a:ext cx="45720" cy="4114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514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9718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2E8F0"/>
                </a:solidFill>
                <a:latin typeface="Calibri"/>
              </a:rPr>
              <a:t>Generation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657600"/>
            <a:ext cx="457200" cy="12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84048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RAG generation should be improved with better prompting, reranking, and semantic / human evaluation.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19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19  / 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Final Recommended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Use each model where it performs best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2560320"/>
            <a:ext cx="548640" cy="548640"/>
          </a:xfrm>
          <a:prstGeom prst="ellipse">
            <a:avLst/>
          </a:prstGeom>
          <a:solidFill>
            <a:srgbClr val="1B2340"/>
          </a:solidFill>
          <a:ln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EE7F9"/>
                </a:solidFill>
                <a:latin typeface="Consolas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246120"/>
            <a:ext cx="548640" cy="127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Customer 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0340" y="21945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3300" y="2560320"/>
            <a:ext cx="548640" cy="548640"/>
          </a:xfrm>
          <a:prstGeom prst="ellipse">
            <a:avLst/>
          </a:prstGeom>
          <a:solidFill>
            <a:srgbClr val="1B2340"/>
          </a:solidFill>
          <a:ln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034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  <a:latin typeface="Consola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43300" y="3246120"/>
            <a:ext cx="548640" cy="127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3220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TF-IDF Category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1945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06440" y="2560320"/>
            <a:ext cx="548640" cy="548640"/>
          </a:xfrm>
          <a:prstGeom prst="ellipse">
            <a:avLst/>
          </a:prstGeom>
          <a:solidFill>
            <a:srgbClr val="1B2340"/>
          </a:solidFill>
          <a:ln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onsolas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3246120"/>
            <a:ext cx="548640" cy="12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Category-Filtered Retrieval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46620" y="21945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69580" y="2560320"/>
            <a:ext cx="548640" cy="548640"/>
          </a:xfrm>
          <a:prstGeom prst="ellipse">
            <a:avLst/>
          </a:prstGeom>
          <a:solidFill>
            <a:srgbClr val="1B2340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662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Consolas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9580" y="3246120"/>
            <a:ext cx="548640" cy="127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9500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BM25 + FAISS Similar Tickets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19456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32720" y="2560320"/>
            <a:ext cx="548640" cy="548640"/>
          </a:xfrm>
          <a:prstGeom prst="ellipse">
            <a:avLst/>
          </a:prstGeom>
          <a:solidFill>
            <a:srgbClr val="1B2340"/>
          </a:solidFill>
          <a:ln>
            <a:solidFill>
              <a:srgbClr val="F97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97373"/>
                </a:solidFill>
                <a:latin typeface="Consolas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3246120"/>
            <a:ext cx="548640" cy="12700"/>
          </a:xfrm>
          <a:prstGeom prst="rect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34290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Calibri"/>
              </a:rPr>
              <a:t>Qwen RAG Response Draft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754880"/>
            <a:ext cx="11247120" cy="155448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83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CONSULTANT RECOMMENDATION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7373"/>
                </a:solidFill>
                <a:latin typeface="Calibri"/>
              </a:rPr>
              <a:t>Do not use RAG alone as the classifier.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Use TF-IDF for robust category routing, then use RAG for evidence retrieval, explainability, and response generation.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20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20  / 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Next-Step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Improvements to raise quality and make the system more production-ready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5720" cy="41148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Retrieval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2926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Tune FAISS / BM25 weights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Try Top-K = 3, 5, 8, 10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Increase candidate pool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Add a cross-encoder reranker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Filter retrieval by predicted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45720" cy="4114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onsolas"/>
              </a:rPr>
              <a:t>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889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Generation Improvements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474720"/>
            <a:ext cx="2926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Improve prompt template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Use retrieved responses as examples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Add BERTScore or embedding similarity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Add human evaluation on 20–50 samples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Reduce hallucination with stricter context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103120"/>
            <a:ext cx="45720" cy="4114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4D399"/>
                </a:solidFill>
                <a:latin typeface="Consola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7889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2E8F0"/>
                </a:solidFill>
                <a:latin typeface="Calibri"/>
              </a:rPr>
              <a:t>Data Improvements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474720"/>
            <a:ext cx="29260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Replace weak labels with human labels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Add priority / urgency labels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Track real agent feedback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Build a real validation set</a:t>
            </a:r>
          </a:p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• Monitor class drift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21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21  / 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Limitations &amp; Risk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Professional interpretation of current project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BBF24"/>
                </a:solidFill>
                <a:latin typeface="Consolas"/>
              </a:rPr>
              <a:t>R-01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0312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Categories are weak-labeled from keywords, not official human annotations.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BBF24"/>
                </a:solidFill>
                <a:latin typeface="Consolas"/>
              </a:rPr>
              <a:t>R-02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97180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The very high TF-IDF accuracy may partly reflect the keyword-based label 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BBF24"/>
                </a:solidFill>
                <a:latin typeface="Consolas"/>
              </a:rPr>
              <a:t>R-03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Retrieval relevance was approximated using category match due to missing human relevance labels.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BBF24"/>
                </a:solidFill>
                <a:latin typeface="Consolas"/>
              </a:rPr>
              <a:t>R-04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70916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ROUGE / BLEU are limited for support responses because correct answers can be phrased differently.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11247120" cy="77724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54864" cy="777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1188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spc="200">
                <a:solidFill>
                  <a:srgbClr val="FBBF24"/>
                </a:solidFill>
                <a:latin typeface="Consolas"/>
              </a:rPr>
              <a:t>R-05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577840"/>
            <a:ext cx="9692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The generator was evaluated on a small sample because large language model inference is expensive.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22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22  / 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Project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The completed notebook demonstrates a full end-to-end ML / NLP evaluation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 w="12700">
            <a:solidFill>
              <a:srgbClr val="6EE7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MAIN FINDING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2E8F0"/>
                </a:solidFill>
                <a:latin typeface="Calibri"/>
              </a:rPr>
              <a:t>TF-IDF + Logistic Regression is the best classification model for this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060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6EE7F9"/>
                </a:solidFill>
                <a:latin typeface="Calibri"/>
              </a:rPr>
              <a:t>97.47%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Calibri"/>
              </a:rPr>
              <a:t>Accuracy  •  F1 = 0.9746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532120" cy="210312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onsolas"/>
              </a:rPr>
              <a:t>RAG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4800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Hybrid RAG is still valuable — it retrieves supporting historical tickets and enables context-aware response drafting.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14800"/>
            <a:ext cx="5532120" cy="210312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4D399"/>
                </a:solidFill>
                <a:latin typeface="Consolas"/>
              </a:rPr>
              <a:t>BEST FINAL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754880"/>
            <a:ext cx="4800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Use supervised classification for routing, then use RAG for retrieval, explainability, and response generation.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23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23  / 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Source Files &amp; Generated 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Key files produced by the notebook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53212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5532120" cy="4572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6EE7F9"/>
                </a:solidFill>
                <a:latin typeface="Consolas"/>
              </a:rPr>
              <a:t>NOTEBOOK ARTIFACTS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990088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cleaned_labeled_dataset.csv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47288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337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train_embeddings.npy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904488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947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test_embeddings.npy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61688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faiss_index.index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18888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7091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traditional_tfidf_logreg_classifier.joblib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276088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1663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tfidf_nearest_response_model.joblib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103120"/>
            <a:ext cx="553212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2103120"/>
            <a:ext cx="5532120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377440"/>
            <a:ext cx="5532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Consolas"/>
              </a:rPr>
              <a:t>EVALUATION OUTPUTS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29900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8803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traditional_classification_metrics.json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4472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337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retrieval_metrics.json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39044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7947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rag_classification_metrics.json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43616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2519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rag_generation_metrics.json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48188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47091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final_run_summary.json</a:t>
            </a:r>
          </a:p>
        </p:txBody>
      </p:sp>
      <p:sp>
        <p:nvSpPr>
          <p:cNvPr id="38" name="Oval 37"/>
          <p:cNvSpPr/>
          <p:nvPr/>
        </p:nvSpPr>
        <p:spPr>
          <a:xfrm>
            <a:off x="6537960" y="5276088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51663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onsolas"/>
              </a:rPr>
              <a:t>plots and comparison charts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24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24  / 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A modern full-stack deployment with React + Next.js frontend and FastAPI backend serving the ML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45720" cy="41148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Calibri"/>
              </a:rPr>
              <a:t>React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457200" cy="12700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React powers the interactive UI components for the support agent dashboard, ticket submission forms, and live response previews — delivering a fast, component-based user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103120"/>
            <a:ext cx="45720" cy="4114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onsolas"/>
              </a:rPr>
              <a:t>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7889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Calibri"/>
              </a:rPr>
              <a:t>Next.js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657600"/>
            <a:ext cx="457200" cy="127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84048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Next.js provides the application shell with server-side rendering, routing, and optimized builds — ensuring fast page loads, SEO-friendly pages, and seamless integration with the React frontend.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10312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103120"/>
            <a:ext cx="45720" cy="4114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4D399"/>
                </a:solidFill>
                <a:latin typeface="Consola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889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2E8F0"/>
                </a:solidFill>
                <a:latin typeface="Calibri"/>
              </a:rPr>
              <a:t>FastAPI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657600"/>
            <a:ext cx="457200" cy="127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84048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FastAPI exposes the trained TF-IDF classifier, hybrid BM25 + FAISS retriever, and Qwen RAG response generator as REST endpoints — offering high-performance async inference with automatic OpenAPI docs.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9525"/>
          </a:xfrm>
          <a:prstGeom prst="rect">
            <a:avLst/>
          </a:prstGeom>
          <a:solidFill>
            <a:srgbClr val="2A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94A3B8"/>
                </a:solidFill>
                <a:latin typeface="Calibri"/>
              </a:rPr>
              <a:t>Intelligent Support Ticket Classification with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25 / 25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502920"/>
            <a:ext cx="109728" cy="109728"/>
          </a:xfrm>
          <a:prstGeom prst="ellipse">
            <a:avLst/>
          </a:prstGeom>
          <a:solidFill>
            <a:srgbClr val="6EE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57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25  / 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Calibri"/>
              </a:rPr>
              <a:t>Deployment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Live screens from the deployed app — landing page (React + Next.js) and the FastAPI-backed classification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6EE7F9"/>
                </a:solidFill>
                <a:latin typeface="Consolas"/>
              </a:rPr>
              <a:t>LANDING PAGE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0" y="2423160"/>
            <a:ext cx="164592" cy="164592"/>
          </a:xfrm>
          <a:prstGeom prst="ellipse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49240" y="242316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23560" y="242316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80360"/>
            <a:ext cx="4983480" cy="3063240"/>
          </a:xfrm>
          <a:prstGeom prst="rect">
            <a:avLst/>
          </a:prstGeom>
          <a:solidFill>
            <a:srgbClr val="0B1020"/>
          </a:solidFill>
          <a:ln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84918"/>
            <a:ext cx="4983480" cy="225412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72200" y="210312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141A2E"/>
          </a:solidFill>
          <a:ln w="6350"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onsolas"/>
              </a:rPr>
              <a:t>DASHBOARD</a:t>
            </a:r>
          </a:p>
        </p:txBody>
      </p:sp>
      <p:sp>
        <p:nvSpPr>
          <p:cNvPr id="19" name="Oval 18"/>
          <p:cNvSpPr/>
          <p:nvPr/>
        </p:nvSpPr>
        <p:spPr>
          <a:xfrm>
            <a:off x="10789920" y="2423160"/>
            <a:ext cx="164592" cy="164592"/>
          </a:xfrm>
          <a:prstGeom prst="ellipse">
            <a:avLst/>
          </a:prstGeom>
          <a:solidFill>
            <a:srgbClr val="F9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4240" y="242316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38560" y="242316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2880360"/>
            <a:ext cx="4983480" cy="3063240"/>
          </a:xfrm>
          <a:prstGeom prst="rect">
            <a:avLst/>
          </a:prstGeom>
          <a:solidFill>
            <a:srgbClr val="0B1020"/>
          </a:solidFill>
          <a:ln>
            <a:solidFill>
              <a:srgbClr val="2A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o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90112"/>
            <a:ext cx="4983480" cy="22437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